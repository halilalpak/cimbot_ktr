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30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12000"/>
          </a:blip>
          <a:stretch>
            <a:fillRect/>
          </a:stretch>
        </p:blipFill>
        <p:spPr>
          <a:xfrm>
            <a:off x="8595360" y="1005840"/>
            <a:ext cx="4937760" cy="493776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22960" y="777240"/>
            <a:ext cx="566928" cy="566928"/>
          </a:xfrm>
          <a:prstGeom prst="ellipse">
            <a:avLst/>
          </a:prstGeom>
          <a:solidFill>
            <a:srgbClr val="8FBF5F"/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264" y="923544"/>
            <a:ext cx="274320" cy="27432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508760" y="786384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ÇİMBOT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868680" y="2331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FB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KULLANILAN DONANIMLAR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822960" y="2651760"/>
            <a:ext cx="10332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Kullanılan Donanımlar</a:t>
            </a:r>
            <a:endParaRPr lang="en-US" sz="4000" dirty="0"/>
          </a:p>
        </p:txBody>
      </p:sp>
      <p:sp>
        <p:nvSpPr>
          <p:cNvPr id="8" name="Text 4"/>
          <p:cNvSpPr/>
          <p:nvPr/>
        </p:nvSpPr>
        <p:spPr>
          <a:xfrm>
            <a:off x="868680" y="466344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FE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 kontrollü otonom çim biçme robotunun elektronik ve mekanik bileşenleri.</a:t>
            </a:r>
            <a:endParaRPr lang="en-US" sz="1700" dirty="0"/>
          </a:p>
        </p:txBody>
      </p:sp>
      <p:sp>
        <p:nvSpPr>
          <p:cNvPr id="9" name="Text 5"/>
          <p:cNvSpPr/>
          <p:nvPr/>
        </p:nvSpPr>
        <p:spPr>
          <a:xfrm>
            <a:off x="868680" y="6126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FB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Teknik Donanım Sunumu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6FA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MIMARISI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Dört ana alt sistem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44424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A79A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2084832"/>
            <a:ext cx="749808" cy="749808"/>
          </a:xfrm>
          <a:prstGeom prst="ellipse">
            <a:avLst/>
          </a:prstGeom>
          <a:solidFill>
            <a:srgbClr val="2C5F2D"/>
          </a:solidFill>
          <a:ln/>
          <a:effectLst>
            <a:outerShdw sx="100000" sy="100000" kx="0" ky="0" algn="bl" rotWithShape="0" blurRad="101600" dist="38100" dir="5400000">
              <a:srgbClr val="9AA79A">
                <a:alpha val="35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1062" y="2279782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2084832"/>
            <a:ext cx="216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301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Beyin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1783080" y="2542032"/>
            <a:ext cx="2164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6E7D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— tüm kontrol, WiFi ve sensör yönetimi.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404360" y="1828800"/>
            <a:ext cx="344424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A79A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60392" y="2084832"/>
            <a:ext cx="749808" cy="749808"/>
          </a:xfrm>
          <a:prstGeom prst="ellipse">
            <a:avLst/>
          </a:prstGeom>
          <a:solidFill>
            <a:srgbClr val="2C5F2D"/>
          </a:solidFill>
          <a:ln/>
          <a:effectLst>
            <a:outerShdw sx="100000" sy="100000" kx="0" ky="0" algn="bl" rotWithShape="0" blurRad="101600" dist="38100" dir="5400000">
              <a:srgbClr val="9AA79A">
                <a:alpha val="35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5342" y="2279782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547360" y="2084832"/>
            <a:ext cx="216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301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Sürüş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5547360" y="2542032"/>
            <a:ext cx="2164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6E7D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L298N sürücü + 2 redüktörlü DC motor.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168640" y="1828800"/>
            <a:ext cx="344424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A79A">
                <a:alpha val="3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24672" y="2084832"/>
            <a:ext cx="749808" cy="749808"/>
          </a:xfrm>
          <a:prstGeom prst="ellipse">
            <a:avLst/>
          </a:prstGeom>
          <a:solidFill>
            <a:srgbClr val="2C5F2D"/>
          </a:solidFill>
          <a:ln/>
          <a:effectLst>
            <a:outerShdw sx="100000" sy="100000" kx="0" ky="0" algn="bl" rotWithShape="0" blurRad="101600" dist="38100" dir="5400000">
              <a:srgbClr val="9AA79A">
                <a:alpha val="35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9622" y="2279782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311640" y="2084832"/>
            <a:ext cx="216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301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Kesici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9311640" y="2542032"/>
            <a:ext cx="2164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6E7D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RS775 motor + MOSFET anahtarlama.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40080" y="3931920"/>
            <a:ext cx="344424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A79A">
                <a:alpha val="3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96112" y="4187952"/>
            <a:ext cx="749808" cy="749808"/>
          </a:xfrm>
          <a:prstGeom prst="ellipse">
            <a:avLst/>
          </a:prstGeom>
          <a:solidFill>
            <a:srgbClr val="2C5F2D"/>
          </a:solidFill>
          <a:ln/>
          <a:effectLst>
            <a:outerShdw sx="100000" sy="100000" kx="0" ky="0" algn="bl" rotWithShape="0" blurRad="101600" dist="38100" dir="5400000">
              <a:srgbClr val="9AA79A">
                <a:alpha val="35000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1062" y="4382902"/>
            <a:ext cx="359908" cy="35990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783080" y="4187952"/>
            <a:ext cx="216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301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Algılama</a:t>
            </a:r>
            <a:endParaRPr lang="en-US" sz="1550" dirty="0"/>
          </a:p>
        </p:txBody>
      </p:sp>
      <p:sp>
        <p:nvSpPr>
          <p:cNvPr id="23" name="Text 17"/>
          <p:cNvSpPr/>
          <p:nvPr/>
        </p:nvSpPr>
        <p:spPr>
          <a:xfrm>
            <a:off x="1783080" y="4645152"/>
            <a:ext cx="2164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6E7D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TF-Luna + servo tarama + MPU6050.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4404360" y="3931920"/>
            <a:ext cx="344424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A79A">
                <a:alpha val="35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660392" y="4187952"/>
            <a:ext cx="749808" cy="749808"/>
          </a:xfrm>
          <a:prstGeom prst="ellipse">
            <a:avLst/>
          </a:prstGeom>
          <a:solidFill>
            <a:srgbClr val="2C5F2D"/>
          </a:solidFill>
          <a:ln/>
          <a:effectLst>
            <a:outerShdw sx="100000" sy="100000" kx="0" ky="0" algn="bl" rotWithShape="0" blurRad="101600" dist="38100" dir="5400000">
              <a:srgbClr val="9AA79A">
                <a:alpha val="35000"/>
              </a:srgbClr>
            </a:outerShdw>
          </a:effectLst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5342" y="4382902"/>
            <a:ext cx="359908" cy="35990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547360" y="4187952"/>
            <a:ext cx="216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301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Güç</a:t>
            </a:r>
            <a:endParaRPr lang="en-US" sz="1550" dirty="0"/>
          </a:p>
        </p:txBody>
      </p:sp>
      <p:sp>
        <p:nvSpPr>
          <p:cNvPr id="28" name="Text 21"/>
          <p:cNvSpPr/>
          <p:nvPr/>
        </p:nvSpPr>
        <p:spPr>
          <a:xfrm>
            <a:off x="5547360" y="4645152"/>
            <a:ext cx="2164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6E7D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Bosch 18V akü + buck çeviriciler.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8168640" y="3931920"/>
            <a:ext cx="344424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A79A">
                <a:alpha val="35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424672" y="4187952"/>
            <a:ext cx="749808" cy="749808"/>
          </a:xfrm>
          <a:prstGeom prst="ellipse">
            <a:avLst/>
          </a:prstGeom>
          <a:solidFill>
            <a:srgbClr val="2C5F2D"/>
          </a:solidFill>
          <a:ln/>
          <a:effectLst>
            <a:outerShdw sx="100000" sy="100000" kx="0" ky="0" algn="bl" rotWithShape="0" blurRad="101600" dist="38100" dir="5400000">
              <a:srgbClr val="9AA79A">
                <a:alpha val="35000"/>
              </a:srgbClr>
            </a:outerShdw>
          </a:effectLst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19622" y="4382902"/>
            <a:ext cx="359908" cy="35990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311640" y="4187952"/>
            <a:ext cx="216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301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Mekanik</a:t>
            </a:r>
            <a:endParaRPr lang="en-US" sz="1550" dirty="0"/>
          </a:p>
        </p:txBody>
      </p:sp>
      <p:sp>
        <p:nvSpPr>
          <p:cNvPr id="33" name="Text 25"/>
          <p:cNvSpPr/>
          <p:nvPr/>
        </p:nvSpPr>
        <p:spPr>
          <a:xfrm>
            <a:off x="9311640" y="4645152"/>
            <a:ext cx="2164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6E7D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baskı şase ve tekerlek sistemi.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6FA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BEYIN / MIKRODENETLEYICI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ESP32 — komuta merkezi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44424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A79A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2084832"/>
            <a:ext cx="749808" cy="749808"/>
          </a:xfrm>
          <a:prstGeom prst="ellipse">
            <a:avLst/>
          </a:prstGeom>
          <a:solidFill>
            <a:srgbClr val="2C5F2D"/>
          </a:solidFill>
          <a:ln/>
          <a:effectLst>
            <a:outerShdw sx="100000" sy="100000" kx="0" ky="0" algn="bl" rotWithShape="0" blurRad="101600" dist="38100" dir="5400000">
              <a:srgbClr val="9AA79A">
                <a:alpha val="35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1062" y="2279782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2084832"/>
            <a:ext cx="216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301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WiFi + Bluetooth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1783080" y="2542032"/>
            <a:ext cx="2164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6E7D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Telefonla kablosuz, düşük gecikmeli (WebSocket) kontrol.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404360" y="1828800"/>
            <a:ext cx="344424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A79A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60392" y="2084832"/>
            <a:ext cx="749808" cy="749808"/>
          </a:xfrm>
          <a:prstGeom prst="ellipse">
            <a:avLst/>
          </a:prstGeom>
          <a:solidFill>
            <a:srgbClr val="2C5F2D"/>
          </a:solidFill>
          <a:ln/>
          <a:effectLst>
            <a:outerShdw sx="100000" sy="100000" kx="0" ky="0" algn="bl" rotWithShape="0" blurRad="101600" dist="38100" dir="5400000">
              <a:srgbClr val="9AA79A">
                <a:alpha val="35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5342" y="2279782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547360" y="2084832"/>
            <a:ext cx="216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301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PWM çıkışları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5547360" y="2542032"/>
            <a:ext cx="2164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6E7D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hızları ve kesici gücü için hassas kontrol.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168640" y="1828800"/>
            <a:ext cx="344424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A79A">
                <a:alpha val="3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24672" y="2084832"/>
            <a:ext cx="749808" cy="749808"/>
          </a:xfrm>
          <a:prstGeom prst="ellipse">
            <a:avLst/>
          </a:prstGeom>
          <a:solidFill>
            <a:srgbClr val="2C5F2D"/>
          </a:solidFill>
          <a:ln/>
          <a:effectLst>
            <a:outerShdw sx="100000" sy="100000" kx="0" ky="0" algn="bl" rotWithShape="0" blurRad="101600" dist="38100" dir="5400000">
              <a:srgbClr val="9AA79A">
                <a:alpha val="35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9622" y="2279782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311640" y="2084832"/>
            <a:ext cx="216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301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UART / I2C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9311640" y="2542032"/>
            <a:ext cx="2164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6E7D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TF-Luna (UART) ve MPU6050 (I2C) haberleşmesi.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6FA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SÜRÜŞ SISTEMI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Hareket ve yönlendirme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44424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A79A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2084832"/>
            <a:ext cx="749808" cy="749808"/>
          </a:xfrm>
          <a:prstGeom prst="ellipse">
            <a:avLst/>
          </a:prstGeom>
          <a:solidFill>
            <a:srgbClr val="2C5F2D"/>
          </a:solidFill>
          <a:ln/>
          <a:effectLst>
            <a:outerShdw sx="100000" sy="100000" kx="0" ky="0" algn="bl" rotWithShape="0" blurRad="101600" dist="38100" dir="5400000">
              <a:srgbClr val="9AA79A">
                <a:alpha val="35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1062" y="2279782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2084832"/>
            <a:ext cx="216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301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2× 37mm Redüktörlü DC Motor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1783080" y="2542032"/>
            <a:ext cx="2164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6E7D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12V, ~200 RPM; diferansiyel (skid-steer) sürüş.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404360" y="1828800"/>
            <a:ext cx="344424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A79A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60392" y="2084832"/>
            <a:ext cx="749808" cy="749808"/>
          </a:xfrm>
          <a:prstGeom prst="ellipse">
            <a:avLst/>
          </a:prstGeom>
          <a:solidFill>
            <a:srgbClr val="2C5F2D"/>
          </a:solidFill>
          <a:ln/>
          <a:effectLst>
            <a:outerShdw sx="100000" sy="100000" kx="0" ky="0" algn="bl" rotWithShape="0" blurRad="101600" dist="38100" dir="5400000">
              <a:srgbClr val="9AA79A">
                <a:alpha val="35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5342" y="2279782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547360" y="2084832"/>
            <a:ext cx="216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301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L298N Çift Motor Sürücü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5547360" y="2542032"/>
            <a:ext cx="2164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6E7D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sinyalini güce çevirir, iki motoru bağımsız sürer.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168640" y="1828800"/>
            <a:ext cx="344424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A79A">
                <a:alpha val="3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24672" y="2084832"/>
            <a:ext cx="749808" cy="749808"/>
          </a:xfrm>
          <a:prstGeom prst="ellipse">
            <a:avLst/>
          </a:prstGeom>
          <a:solidFill>
            <a:srgbClr val="2C5F2D"/>
          </a:solidFill>
          <a:ln/>
          <a:effectLst>
            <a:outerShdw sx="100000" sy="100000" kx="0" ky="0" algn="bl" rotWithShape="0" blurRad="101600" dist="38100" dir="5400000">
              <a:srgbClr val="9AA79A">
                <a:alpha val="35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9622" y="2279782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311640" y="2084832"/>
            <a:ext cx="216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301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Joystick + PWM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9311640" y="2542032"/>
            <a:ext cx="2164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6E7D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yöne oranlı hız; viraj ve geri+dönüş desteği.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6FA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KESICI SISTEM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Yüksek devirli biçme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44424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A79A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2084832"/>
            <a:ext cx="749808" cy="749808"/>
          </a:xfrm>
          <a:prstGeom prst="ellipse">
            <a:avLst/>
          </a:prstGeom>
          <a:solidFill>
            <a:srgbClr val="2C5F2D"/>
          </a:solidFill>
          <a:ln/>
          <a:effectLst>
            <a:outerShdw sx="100000" sy="100000" kx="0" ky="0" algn="bl" rotWithShape="0" blurRad="101600" dist="38100" dir="5400000">
              <a:srgbClr val="9AA79A">
                <a:alpha val="35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1062" y="2279782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2084832"/>
            <a:ext cx="216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301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RS775 Motor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1783080" y="2542032"/>
            <a:ext cx="2164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6E7D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Yüksek RPM; miline takılan misina ile keser.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404360" y="1828800"/>
            <a:ext cx="344424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A79A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60392" y="2084832"/>
            <a:ext cx="749808" cy="749808"/>
          </a:xfrm>
          <a:prstGeom prst="ellipse">
            <a:avLst/>
          </a:prstGeom>
          <a:solidFill>
            <a:srgbClr val="2C5F2D"/>
          </a:solidFill>
          <a:ln/>
          <a:effectLst>
            <a:outerShdw sx="100000" sy="100000" kx="0" ky="0" algn="bl" rotWithShape="0" blurRad="101600" dist="38100" dir="5400000">
              <a:srgbClr val="9AA79A">
                <a:alpha val="35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5342" y="2279782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547360" y="2084832"/>
            <a:ext cx="216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301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IRLZ44N MOSFET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5547360" y="2542032"/>
            <a:ext cx="2164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6E7D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küçük sinyaliyle büyük akımı anahtarlar; PWM hız.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168640" y="1828800"/>
            <a:ext cx="344424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A79A">
                <a:alpha val="3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24672" y="2084832"/>
            <a:ext cx="749808" cy="749808"/>
          </a:xfrm>
          <a:prstGeom prst="ellipse">
            <a:avLst/>
          </a:prstGeom>
          <a:solidFill>
            <a:srgbClr val="2C5F2D"/>
          </a:solidFill>
          <a:ln/>
          <a:effectLst>
            <a:outerShdw sx="100000" sy="100000" kx="0" ky="0" algn="bl" rotWithShape="0" blurRad="101600" dist="38100" dir="5400000">
              <a:srgbClr val="9AA79A">
                <a:alpha val="35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9622" y="2279782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311640" y="2084832"/>
            <a:ext cx="216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301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Flyback Diyot + Soğutucu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9311640" y="2542032"/>
            <a:ext cx="2164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6E7D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Ters gerilimden korur, MOSFET'i serin tutar.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6FA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ALGILAMA SISTEMI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Ortamı görmek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44424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A79A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2084832"/>
            <a:ext cx="749808" cy="749808"/>
          </a:xfrm>
          <a:prstGeom prst="ellipse">
            <a:avLst/>
          </a:prstGeom>
          <a:solidFill>
            <a:srgbClr val="2C5F2D"/>
          </a:solidFill>
          <a:ln/>
          <a:effectLst>
            <a:outerShdw sx="100000" sy="100000" kx="0" ky="0" algn="bl" rotWithShape="0" blurRad="101600" dist="38100" dir="5400000">
              <a:srgbClr val="9AA79A">
                <a:alpha val="35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1062" y="2279782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2084832"/>
            <a:ext cx="216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301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TF-Luna ToF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1783080" y="2542032"/>
            <a:ext cx="2164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6E7D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Hassas mesafe ölçer (lazer tabanlı), engel algılama.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404360" y="1828800"/>
            <a:ext cx="344424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A79A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60392" y="2084832"/>
            <a:ext cx="749808" cy="749808"/>
          </a:xfrm>
          <a:prstGeom prst="ellipse">
            <a:avLst/>
          </a:prstGeom>
          <a:solidFill>
            <a:srgbClr val="2C5F2D"/>
          </a:solidFill>
          <a:ln/>
          <a:effectLst>
            <a:outerShdw sx="100000" sy="100000" kx="0" ky="0" algn="bl" rotWithShape="0" blurRad="101600" dist="38100" dir="5400000">
              <a:srgbClr val="9AA79A">
                <a:alpha val="35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5342" y="2279782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547360" y="2084832"/>
            <a:ext cx="216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301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SG90 Servo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5547360" y="2542032"/>
            <a:ext cx="2164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6E7D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TF-Luna'yı süpürterek dar görüş açısını genişletir.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168640" y="1828800"/>
            <a:ext cx="344424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A79A">
                <a:alpha val="3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24672" y="2084832"/>
            <a:ext cx="749808" cy="749808"/>
          </a:xfrm>
          <a:prstGeom prst="ellipse">
            <a:avLst/>
          </a:prstGeom>
          <a:solidFill>
            <a:srgbClr val="2C5F2D"/>
          </a:solidFill>
          <a:ln/>
          <a:effectLst>
            <a:outerShdw sx="100000" sy="100000" kx="0" ky="0" algn="bl" rotWithShape="0" blurRad="101600" dist="38100" dir="5400000">
              <a:srgbClr val="9AA79A">
                <a:alpha val="35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9622" y="2279782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311640" y="2084832"/>
            <a:ext cx="216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301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MPU6050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9311640" y="2542032"/>
            <a:ext cx="2164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6E7D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eksen ivme/jiro; devrilme/eğim algılayıp motorları keser.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6FA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GÜÇ SISTEMI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Taşınabilir, güvenli enerji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44424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A79A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2084832"/>
            <a:ext cx="749808" cy="749808"/>
          </a:xfrm>
          <a:prstGeom prst="ellipse">
            <a:avLst/>
          </a:prstGeom>
          <a:solidFill>
            <a:srgbClr val="2C5F2D"/>
          </a:solidFill>
          <a:ln/>
          <a:effectLst>
            <a:outerShdw sx="100000" sy="100000" kx="0" ky="0" algn="bl" rotWithShape="0" blurRad="101600" dist="38100" dir="5400000">
              <a:srgbClr val="9AA79A">
                <a:alpha val="35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1062" y="2279782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2084832"/>
            <a:ext cx="216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301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Bosch GBA 18V 5.0Ah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1783080" y="2542032"/>
            <a:ext cx="2164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6E7D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Yüksek akımlı Li-ion akü; ~40 dk çalışma.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404360" y="1828800"/>
            <a:ext cx="344424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A79A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60392" y="2084832"/>
            <a:ext cx="749808" cy="749808"/>
          </a:xfrm>
          <a:prstGeom prst="ellipse">
            <a:avLst/>
          </a:prstGeom>
          <a:solidFill>
            <a:srgbClr val="2C5F2D"/>
          </a:solidFill>
          <a:ln/>
          <a:effectLst>
            <a:outerShdw sx="100000" sy="100000" kx="0" ky="0" algn="bl" rotWithShape="0" blurRad="101600" dist="38100" dir="5400000">
              <a:srgbClr val="9AA79A">
                <a:alpha val="35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5342" y="2279782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547360" y="2084832"/>
            <a:ext cx="216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301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GAL 18V-40 Şarj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5547360" y="2542032"/>
            <a:ext cx="2164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6E7D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Hızlı şarj (~70 dk), dahili koruma.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168640" y="1828800"/>
            <a:ext cx="344424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A79A">
                <a:alpha val="3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24672" y="2084832"/>
            <a:ext cx="749808" cy="749808"/>
          </a:xfrm>
          <a:prstGeom prst="ellipse">
            <a:avLst/>
          </a:prstGeom>
          <a:solidFill>
            <a:srgbClr val="2C5F2D"/>
          </a:solidFill>
          <a:ln/>
          <a:effectLst>
            <a:outerShdw sx="100000" sy="100000" kx="0" ky="0" algn="bl" rotWithShape="0" blurRad="101600" dist="38100" dir="5400000">
              <a:srgbClr val="9AA79A">
                <a:alpha val="35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9622" y="2279782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311640" y="2084832"/>
            <a:ext cx="216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301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Buck Çeviriciler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9311640" y="2542032"/>
            <a:ext cx="2164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6E7D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18→12V (sürüş) ve →5V (ESP32); ortak GND.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40080" y="3931920"/>
            <a:ext cx="344424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A79A">
                <a:alpha val="3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96112" y="4187952"/>
            <a:ext cx="749808" cy="749808"/>
          </a:xfrm>
          <a:prstGeom prst="ellipse">
            <a:avLst/>
          </a:prstGeom>
          <a:solidFill>
            <a:srgbClr val="2C5F2D"/>
          </a:solidFill>
          <a:ln/>
          <a:effectLst>
            <a:outerShdw sx="100000" sy="100000" kx="0" ky="0" algn="bl" rotWithShape="0" blurRad="101600" dist="38100" dir="5400000">
              <a:srgbClr val="9AA79A">
                <a:alpha val="35000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1062" y="4382902"/>
            <a:ext cx="359908" cy="35990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783080" y="4187952"/>
            <a:ext cx="216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301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30A ANL Sigorta</a:t>
            </a:r>
            <a:endParaRPr lang="en-US" sz="1550" dirty="0"/>
          </a:p>
        </p:txBody>
      </p:sp>
      <p:sp>
        <p:nvSpPr>
          <p:cNvPr id="23" name="Text 17"/>
          <p:cNvSpPr/>
          <p:nvPr/>
        </p:nvSpPr>
        <p:spPr>
          <a:xfrm>
            <a:off x="1783080" y="4645152"/>
            <a:ext cx="2164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6E7D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Kısa devre koruması.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4404360" y="3931920"/>
            <a:ext cx="344424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A79A">
                <a:alpha val="35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660392" y="4187952"/>
            <a:ext cx="749808" cy="749808"/>
          </a:xfrm>
          <a:prstGeom prst="ellipse">
            <a:avLst/>
          </a:prstGeom>
          <a:solidFill>
            <a:srgbClr val="2C5F2D"/>
          </a:solidFill>
          <a:ln/>
          <a:effectLst>
            <a:outerShdw sx="100000" sy="100000" kx="0" ky="0" algn="bl" rotWithShape="0" blurRad="101600" dist="38100" dir="5400000">
              <a:srgbClr val="9AA79A">
                <a:alpha val="35000"/>
              </a:srgbClr>
            </a:outerShdw>
          </a:effectLst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5342" y="4382902"/>
            <a:ext cx="359908" cy="35990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547360" y="4187952"/>
            <a:ext cx="216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301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Elektrikli Çalışma</a:t>
            </a:r>
            <a:endParaRPr lang="en-US" sz="1550" dirty="0"/>
          </a:p>
        </p:txBody>
      </p:sp>
      <p:sp>
        <p:nvSpPr>
          <p:cNvPr id="28" name="Text 21"/>
          <p:cNvSpPr/>
          <p:nvPr/>
        </p:nvSpPr>
        <p:spPr>
          <a:xfrm>
            <a:off x="5547360" y="4645152"/>
            <a:ext cx="2164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6E7D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Sessiz, sıfır emisyon.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8168640" y="3931920"/>
            <a:ext cx="344424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A79A">
                <a:alpha val="35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424672" y="4187952"/>
            <a:ext cx="749808" cy="749808"/>
          </a:xfrm>
          <a:prstGeom prst="ellipse">
            <a:avLst/>
          </a:prstGeom>
          <a:solidFill>
            <a:srgbClr val="2C5F2D"/>
          </a:solidFill>
          <a:ln/>
          <a:effectLst>
            <a:outerShdw sx="100000" sy="100000" kx="0" ky="0" algn="bl" rotWithShape="0" blurRad="101600" dist="38100" dir="5400000">
              <a:srgbClr val="9AA79A">
                <a:alpha val="35000"/>
              </a:srgbClr>
            </a:outerShdw>
          </a:effectLst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19622" y="4382902"/>
            <a:ext cx="359908" cy="35990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311640" y="4187952"/>
            <a:ext cx="216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301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Ortak Toprak</a:t>
            </a:r>
            <a:endParaRPr lang="en-US" sz="1550" dirty="0"/>
          </a:p>
        </p:txBody>
      </p:sp>
      <p:sp>
        <p:nvSpPr>
          <p:cNvPr id="33" name="Text 25"/>
          <p:cNvSpPr/>
          <p:nvPr/>
        </p:nvSpPr>
        <p:spPr>
          <a:xfrm>
            <a:off x="9311640" y="4645152"/>
            <a:ext cx="2164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6E7D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Tüm GND tek noktada birleşir.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6FA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MEKANIK YAPI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3D baskı şase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44424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A79A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2084832"/>
            <a:ext cx="749808" cy="749808"/>
          </a:xfrm>
          <a:prstGeom prst="ellipse">
            <a:avLst/>
          </a:prstGeom>
          <a:solidFill>
            <a:srgbClr val="2C5F2D"/>
          </a:solidFill>
          <a:ln/>
          <a:effectLst>
            <a:outerShdw sx="100000" sy="100000" kx="0" ky="0" algn="bl" rotWithShape="0" blurRad="101600" dist="38100" dir="5400000">
              <a:srgbClr val="9AA79A">
                <a:alpha val="35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1062" y="2279782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2084832"/>
            <a:ext cx="216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301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Hafif Gövde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1783080" y="2542032"/>
            <a:ext cx="2164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6E7D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PLA/PETG baskı; ağırlık ~1,3 kg (toplam ~3,4 kg).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404360" y="1828800"/>
            <a:ext cx="344424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A79A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60392" y="2084832"/>
            <a:ext cx="749808" cy="749808"/>
          </a:xfrm>
          <a:prstGeom prst="ellipse">
            <a:avLst/>
          </a:prstGeom>
          <a:solidFill>
            <a:srgbClr val="2C5F2D"/>
          </a:solidFill>
          <a:ln/>
          <a:effectLst>
            <a:outerShdw sx="100000" sy="100000" kx="0" ky="0" algn="bl" rotWithShape="0" blurRad="101600" dist="38100" dir="5400000">
              <a:srgbClr val="9AA79A">
                <a:alpha val="35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5342" y="2279782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547360" y="2084832"/>
            <a:ext cx="216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301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 Çekiş + Caster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5547360" y="2542032"/>
            <a:ext cx="2164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6E7D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Ön iki motor çeker, arka serbest teker denge sağlar.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168640" y="1828800"/>
            <a:ext cx="344424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A79A">
                <a:alpha val="3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24672" y="2084832"/>
            <a:ext cx="749808" cy="749808"/>
          </a:xfrm>
          <a:prstGeom prst="ellipse">
            <a:avLst/>
          </a:prstGeom>
          <a:solidFill>
            <a:srgbClr val="2C5F2D"/>
          </a:solidFill>
          <a:ln/>
          <a:effectLst>
            <a:outerShdw sx="100000" sy="100000" kx="0" ky="0" algn="bl" rotWithShape="0" blurRad="101600" dist="38100" dir="5400000">
              <a:srgbClr val="9AA79A">
                <a:alpha val="35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9622" y="2279782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311640" y="2084832"/>
            <a:ext cx="216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301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Modüler Montaj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9311640" y="2542032"/>
            <a:ext cx="2164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6E7D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Parçalar ayrı basılıp vidayla birleştirilir.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6FA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 / BAĞLANTI ÖZETI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ESP32 pin haritası</a:t>
            </a:r>
            <a:endParaRPr lang="en-US" sz="2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28800"/>
          <a:ext cx="10908792" cy="914400"/>
        </p:xfrm>
        <a:graphic>
          <a:graphicData uri="http://schemas.openxmlformats.org/drawingml/2006/table">
            <a:tbl>
              <a:tblPr/>
              <a:tblGrid>
                <a:gridCol w="6400800"/>
                <a:gridCol w="4572000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İşlev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Pin(ler)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130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Sürüş (ENA/IN1/IN2/IN3/IN4/ENB)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130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 / 27 / 26 / 25 / 33 / 32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130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Kesici (MOSFET gate)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130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GPIO13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E6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130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TF-Luna (UART)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130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RX 16 / TX 17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130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MPU6050 (I2C)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130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SDA 21 / SCL 22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E6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130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Servo (tarama)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130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GPIO4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6FA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DONANIM ÖZETI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Bileşen ve rolleri</a:t>
            </a:r>
            <a:endParaRPr lang="en-US" sz="2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28800"/>
          <a:ext cx="10908792" cy="914400"/>
        </p:xfrm>
        <a:graphic>
          <a:graphicData uri="http://schemas.openxmlformats.org/drawingml/2006/table">
            <a:tbl>
              <a:tblPr/>
              <a:tblGrid>
                <a:gridCol w="5029200"/>
                <a:gridCol w="5852160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Bileşen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130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ESP32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130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Kontrol, WiFi, sensör yönetimi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130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L298N + 2× DC motor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130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Sürüş (diferansiyel)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E6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130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RS775 + IRLZ44N MOSFET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130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Çim kesme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130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TF-Luna + servo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130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Engel algılama / tarama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E6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130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MPU6050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130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Devrilme / güvenlik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130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Bosch 18V 5Ah + bucklar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130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Güç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E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530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10000"/>
          </a:blip>
          <a:stretch>
            <a:fillRect/>
          </a:stretch>
        </p:blipFill>
        <p:spPr>
          <a:xfrm>
            <a:off x="8778240" y="822960"/>
            <a:ext cx="4572000" cy="4572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22960" y="822960"/>
            <a:ext cx="566928" cy="566928"/>
          </a:xfrm>
          <a:prstGeom prst="ellipse">
            <a:avLst/>
          </a:prstGeom>
          <a:solidFill>
            <a:srgbClr val="8FBF5F"/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264" y="969264"/>
            <a:ext cx="274320" cy="27432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508760" y="82296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ÇİMBOT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822960" y="2468880"/>
            <a:ext cx="10058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Sağlam ve ölçeklenebilir</a:t>
            </a:r>
            <a:endParaRPr lang="en-US" sz="4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bir donanım temeli.</a:t>
            </a:r>
            <a:endParaRPr lang="en-US" sz="4000" dirty="0"/>
          </a:p>
        </p:txBody>
      </p:sp>
      <p:sp>
        <p:nvSpPr>
          <p:cNvPr id="7" name="Text 3"/>
          <p:cNvSpPr/>
          <p:nvPr/>
        </p:nvSpPr>
        <p:spPr>
          <a:xfrm>
            <a:off x="868680" y="429768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FE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bileşen belirli bir görev için seçildi ve entegre edildi.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2026-10-13T22:22:02Z</dcterms:created>
  <dcterms:modified xsi:type="dcterms:W3CDTF">2026-10-13T22:22:02Z</dcterms:modified>
</cp:coreProperties>
</file>